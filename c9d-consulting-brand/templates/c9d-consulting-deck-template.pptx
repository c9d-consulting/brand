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Replace title and subtitle. Update file ID, classification, section eyebrow. No chrome — this is the only slide without top/bottom chrome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Uses elevated ground (bg2) — visually distinct from content slides. Rule bright color (3D362C) for the hairline under title. Section description reads as italic secondary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SLIDE — single claim + body. Two-column 5:7 asymmetric layout. Left column carries the claim and body copy. Right column carries a pullquote in Instrument Serif italic amber, then an evidence citation in mono.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SLIDE — table / register. Header row in JetBrains Mono uppercase (stamp-dim color). Body rows Inter Tight. Status cells color-coded: APPROVED = stamp, OPEN = classified red, CLOSED = ink-mute.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SLIDE. Three panels, each carrying: eyebrow (mono uppercase, stamp-dim) / big value (Inter Tight 72pt, amber) / hairline / context (Inter Tight 12pt, ink-mute). Panels use bg2 background with 0.5pt rule border.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SLIDE. No chrome. Two-line closer: "We have shipped what we recommend." in bright ink, "Coordinated, not improvised." in Instrument Serif italic amber. Bottom carries wordmark + attribution + URL. Do NOT replace with "Thank you" or "Questions?"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6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FILE-C9D-ENG-2026-XXX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40" kern="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-40" kern="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C9D</a:t>
            </a:r>
            <a:pPr algn="l" indent="0" marL="0">
              <a:buNone/>
            </a:pPr>
            <a:r>
              <a:rPr lang="en-US" sz="3200" spc="-40" kern="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Consulting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48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01 — ENGAGEMENT DOSSIER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0896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spc="-80" kern="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Document title.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57200" y="4663440"/>
            <a:ext cx="2743200" cy="0"/>
          </a:xfrm>
          <a:prstGeom prst="line">
            <a:avLst/>
          </a:prstGeom>
          <a:noFill/>
          <a:ln w="12700">
            <a:solidFill>
              <a:srgbClr val="3D36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A7E6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Subtitle sits here in </a:t>
            </a:r>
            <a:pPr algn="l" indent="0" marL="0">
              <a:buNone/>
            </a:pPr>
            <a:r>
              <a:rPr lang="en-US" sz="2000" i="1" dirty="0">
                <a:solidFill>
                  <a:srgbClr val="D6743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italic accent</a:t>
            </a:r>
            <a:pPr algn="l" indent="0" marL="0">
              <a:buNone/>
            </a:pPr>
            <a:r>
              <a:rPr lang="en-US" sz="1800" dirty="0">
                <a:solidFill>
                  <a:srgbClr val="8A7E6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852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48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144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Brandon Wilburn</a:t>
            </a:r>
            <a:pPr algn="l" indent="0" marL="0">
              <a:buNone/>
            </a:pPr>
            <a:r>
              <a:rPr lang="en-US" sz="1500" dirty="0">
                <a:solidFill>
                  <a:srgbClr val="5A50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  ·   </a:t>
            </a:r>
            <a:pPr algn="l" indent="0" marL="0">
              <a:buNone/>
            </a:pPr>
            <a:r>
              <a:rPr lang="en-US" sz="150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C9D</a:t>
            </a:r>
            <a:pPr algn="l" indent="0" marL="0">
              <a:buNone/>
            </a:pPr>
            <a:r>
              <a:rPr lang="en-US" sz="150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Consulting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6144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 · MONTH YEAR   ·   VERSION 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6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FILE-C9D-ENG-2026-XXX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2560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CLIENT CONFIDENTIAL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2560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01 / STRATEGIC FOUNDATION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"/>
            <a:ext cx="11247120" cy="0"/>
          </a:xfrm>
          <a:prstGeom prst="line">
            <a:avLst/>
          </a:prstGeom>
          <a:noFill/>
          <a:ln w="6350">
            <a:solidFill>
              <a:srgbClr val="2A26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48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803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spc="-60" kern="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Strategic foundation.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2743200" cy="0"/>
          </a:xfrm>
          <a:prstGeom prst="line">
            <a:avLst/>
          </a:prstGeom>
          <a:noFill/>
          <a:ln w="12700">
            <a:solidFill>
              <a:srgbClr val="3D36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4348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-20" kern="0" dirty="0">
                <a:solidFill>
                  <a:srgbClr val="8A7E6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Section-opener description sits here. One to three lines, italic secondary tone, framing what this section covers and what the reader should look for.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2A2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-20" kern="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C9D</a:t>
            </a:r>
            <a:pPr algn="l" indent="0" marL="0">
              <a:buNone/>
            </a:pPr>
            <a:r>
              <a:rPr lang="en-US" sz="1200" spc="-20" kern="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Consulting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65379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E6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practice of Brandon Wilburn.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6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FILE-C9D-ENG-2026-XXX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2560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CLIENT CONFIDENTIAL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2560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01 / FINDINGS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"/>
            <a:ext cx="11247120" cy="0"/>
          </a:xfrm>
          <a:prstGeom prst="line">
            <a:avLst/>
          </a:prstGeom>
          <a:noFill/>
          <a:ln w="6350">
            <a:solidFill>
              <a:srgbClr val="2A26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144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48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FINDING 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40" kern="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single claim sits at the top.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774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spc="-10" kern="0" dirty="0">
                <a:solidFill>
                  <a:srgbClr val="D8CDB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Body text sits below in Inter Tight regular, 15pt, warm ink color. Body copy paragraphs run at 65 characters per line maximum for scanning ease.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-10" kern="0" dirty="0">
                <a:solidFill>
                  <a:srgbClr val="D8CDB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second paragraph follows the first with a small vertical gap. Cross-paragraph rhythm should feel like an operating memo — dense but not cramped.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7432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8A482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</a:t>
            </a:r>
            <a:pPr algn="l" indent="0" marL="0">
              <a:buNone/>
            </a:pPr>
            <a:r>
              <a:rPr lang="en-US" sz="2200" i="1" dirty="0">
                <a:solidFill>
                  <a:srgbClr val="D6743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pullquote reads in Instrument Serif italic, three to eight words, in accent color.</a:t>
            </a:r>
            <a:pPr algn="l" indent="0" marL="0">
              <a:buNone/>
            </a:pPr>
            <a:r>
              <a:rPr lang="en-US" sz="2400" i="1" dirty="0">
                <a:solidFill>
                  <a:srgbClr val="8A482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58000" y="5166360"/>
            <a:ext cx="1371600" cy="0"/>
          </a:xfrm>
          <a:prstGeom prst="line">
            <a:avLst/>
          </a:prstGeom>
          <a:noFill/>
          <a:ln w="6350">
            <a:solidFill>
              <a:srgbClr val="3D36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5257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48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5577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40" kern="0" dirty="0">
                <a:solidFill>
                  <a:srgbClr val="8A7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brandonwilburn.pro/case-studies/luma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2A26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-20" kern="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C9D</a:t>
            </a:r>
            <a:pPr algn="l" indent="0" marL="0">
              <a:buNone/>
            </a:pPr>
            <a:r>
              <a:rPr lang="en-US" sz="1200" spc="-20" kern="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Consulting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65379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E6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practice of Brandon Wilburn.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6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FILE-C9D-ENG-2026-XXX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2560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CLIENT CONFIDENTIAL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2560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02 / DECISION REGISTER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"/>
            <a:ext cx="11247120" cy="0"/>
          </a:xfrm>
          <a:prstGeom prst="line">
            <a:avLst/>
          </a:prstGeom>
          <a:noFill/>
          <a:ln w="6350">
            <a:solidFill>
              <a:srgbClr val="2A26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144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48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 REGISTER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spc="-30" kern="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Decisions logged this cycle.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3657600"/>
        </p:xfrm>
        <a:graphic>
          <a:graphicData uri="http://schemas.openxmlformats.org/drawingml/2006/table">
            <a:tbl>
              <a:tblPr/>
              <a:tblGrid>
                <a:gridCol w="1097280"/>
                <a:gridCol w="4846320"/>
                <a:gridCol w="1645920"/>
                <a:gridCol w="164592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8A482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ID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8A482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DECISION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8A482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OWNER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8A482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OPENED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8A4824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STATUS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743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DEC-014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CDB8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Adopt Windsurf as primary agentic dev tool</a:t>
                      </a:r>
                      <a:endParaRPr lang="en-US" sz="12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CDB8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B. Wilburn</a:t>
                      </a:r>
                      <a:endParaRPr lang="en-US" sz="12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8CD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2026-02-14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D6743A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APPROVED</a:t>
                      </a:r>
                      <a:endParaRPr lang="en-US" sz="11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743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DEC-015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CDB8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Defer AI vendor selection to Phase II</a:t>
                      </a:r>
                      <a:endParaRPr lang="en-US" sz="12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CDB8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C. Nguyen</a:t>
                      </a:r>
                      <a:endParaRPr lang="en-US" sz="12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8CD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2026-02-18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C0392B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OPEN</a:t>
                      </a:r>
                      <a:endParaRPr lang="en-US" sz="11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743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DEC-016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CDB8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Freeze org restructure until Q3 close</a:t>
                      </a:r>
                      <a:endParaRPr lang="en-US" sz="12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CDB8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J. Torres</a:t>
                      </a:r>
                      <a:endParaRPr lang="en-US" sz="12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8CD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2026-02-22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D6743A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APPROVED</a:t>
                      </a:r>
                      <a:endParaRPr lang="en-US" sz="11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743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DEC-017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CDB8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Postpone new SOC 2 audit until Q4</a:t>
                      </a:r>
                      <a:endParaRPr lang="en-US" sz="12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CDB8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B. Wilburn</a:t>
                      </a:r>
                      <a:endParaRPr lang="en-US" sz="12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8CD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2026-02-28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8A7E6A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CLOSED</a:t>
                      </a:r>
                      <a:endParaRPr lang="en-US" sz="11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2A26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-20" kern="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C9D</a:t>
            </a:r>
            <a:pPr algn="l" indent="0" marL="0">
              <a:buNone/>
            </a:pPr>
            <a:r>
              <a:rPr lang="en-US" sz="1200" spc="-20" kern="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Consulting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65379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E6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practice of Brandon Wilburn.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6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FILE-C9D-ENG-2026-XXX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2560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CLIENT CONFIDENTIAL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2560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02 / METRICS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"/>
            <a:ext cx="11247120" cy="0"/>
          </a:xfrm>
          <a:prstGeom prst="line">
            <a:avLst/>
          </a:prstGeom>
          <a:noFill/>
          <a:ln w="6350">
            <a:solidFill>
              <a:srgbClr val="2A26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144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48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ADOPTION METRICS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spc="-30" kern="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Measured this cycle.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611880" cy="3474720"/>
          </a:xfrm>
          <a:prstGeom prst="rect">
            <a:avLst/>
          </a:prstGeom>
          <a:solidFill>
            <a:srgbClr val="131210"/>
          </a:solidFill>
          <a:ln w="6350">
            <a:solidFill>
              <a:srgbClr val="2A2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60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48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THROUGHPUT LIFT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17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spc="-150" kern="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20–40%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822960" y="4663440"/>
            <a:ext cx="1097280" cy="0"/>
          </a:xfrm>
          <a:prstGeom prst="line">
            <a:avLst/>
          </a:prstGeom>
          <a:noFill/>
          <a:ln w="6350">
            <a:solidFill>
              <a:srgbClr val="2A26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846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-10" kern="0" dirty="0">
                <a:solidFill>
                  <a:srgbClr val="8A7E6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DORA + DX surveys, six teams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2286000"/>
            <a:ext cx="3611880" cy="3474720"/>
          </a:xfrm>
          <a:prstGeom prst="rect">
            <a:avLst/>
          </a:prstGeom>
          <a:solidFill>
            <a:srgbClr val="131210"/>
          </a:solidFill>
          <a:ln w="6350">
            <a:solidFill>
              <a:srgbClr val="2A2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560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48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ADOPTION RATE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017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spc="-150" kern="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78%</a:t>
            </a:r>
            <a:endParaRPr lang="en-US" sz="5600" dirty="0"/>
          </a:p>
        </p:txBody>
      </p:sp>
      <p:sp>
        <p:nvSpPr>
          <p:cNvPr id="16" name="Shape 14"/>
          <p:cNvSpPr/>
          <p:nvPr/>
        </p:nvSpPr>
        <p:spPr>
          <a:xfrm>
            <a:off x="4617720" y="4663440"/>
            <a:ext cx="1097280" cy="0"/>
          </a:xfrm>
          <a:prstGeom prst="line">
            <a:avLst/>
          </a:prstGeom>
          <a:noFill/>
          <a:ln w="6350">
            <a:solidFill>
              <a:srgbClr val="2A26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4846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-10" kern="0" dirty="0">
                <a:solidFill>
                  <a:srgbClr val="8A7E6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Cleared through seven-dimension 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2286000"/>
            <a:ext cx="3611880" cy="3474720"/>
          </a:xfrm>
          <a:prstGeom prst="rect">
            <a:avLst/>
          </a:prstGeom>
          <a:solidFill>
            <a:srgbClr val="131210"/>
          </a:solidFill>
          <a:ln w="6350">
            <a:solidFill>
              <a:srgbClr val="2A262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0" y="2560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48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CRIT. VULNERABILITIES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017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spc="-150" kern="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</a:t>
            </a:r>
            <a:endParaRPr lang="en-US" sz="5600" dirty="0"/>
          </a:p>
        </p:txBody>
      </p:sp>
      <p:sp>
        <p:nvSpPr>
          <p:cNvPr id="21" name="Shape 19"/>
          <p:cNvSpPr/>
          <p:nvPr/>
        </p:nvSpPr>
        <p:spPr>
          <a:xfrm>
            <a:off x="8412480" y="4663440"/>
            <a:ext cx="1097280" cy="0"/>
          </a:xfrm>
          <a:prstGeom prst="line">
            <a:avLst/>
          </a:prstGeom>
          <a:noFill/>
          <a:ln w="6350">
            <a:solidFill>
              <a:srgbClr val="2A26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0" y="4846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-10" kern="0" dirty="0">
                <a:solidFill>
                  <a:srgbClr val="8A7E6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Portfolio-wide at close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2A26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-20" kern="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C9D</a:t>
            </a:r>
            <a:pPr algn="l" indent="0" marL="0">
              <a:buNone/>
            </a:pPr>
            <a:r>
              <a:rPr lang="en-US" sz="1200" spc="-20" kern="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Consulting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65379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E6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practice of Brandon Wilburn.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" kern="0" dirty="0">
                <a:solidFill>
                  <a:srgbClr val="5A50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-40" kern="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We have shipped what we recommend.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i="1" spc="-20" kern="0" dirty="0">
                <a:solidFill>
                  <a:srgbClr val="D6743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Coordinated, not improvised.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09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6743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C9D</a:t>
            </a:r>
            <a:pPr algn="l" indent="0" marL="0">
              <a:buNone/>
            </a:pPr>
            <a:r>
              <a:rPr lang="en-US" sz="1400" dirty="0">
                <a:solidFill>
                  <a:srgbClr val="F0E6D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Consulting</a:t>
            </a:r>
            <a:pPr algn="l" indent="0" marL="0">
              <a:buNone/>
            </a:pPr>
            <a:r>
              <a:rPr lang="en-US" sz="1200" dirty="0">
                <a:solidFill>
                  <a:srgbClr val="8A7E6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  ·   A practice of Brandon Wilburn.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961120" y="6309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" kern="0" dirty="0">
                <a:solidFill>
                  <a:srgbClr val="8A7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c9d.consulting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C9D Consulting · A practice of Brandon Wilburn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C9D Consulting Deck Template</dc:title>
  <dc:subject>PptxGenJS Presentation</dc:subject>
  <dc:creator>C9D Consulting</dc:creator>
  <cp:lastModifiedBy>C9D Consulting</cp:lastModifiedBy>
  <cp:revision>1</cp:revision>
  <dcterms:created xsi:type="dcterms:W3CDTF">2026-09-07T15:32:26Z</dcterms:created>
  <dcterms:modified xsi:type="dcterms:W3CDTF">2026-09-07T15:32:26Z</dcterms:modified>
</cp:coreProperties>
</file>